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WIN08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Complete Flow Chart &amp; Module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00D9A3"/>
                </a:solidFill>
              </a:defRPr>
            </a:pPr>
            <a:r>
              <a:t>Optical Business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91440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App.py</a:t>
            </a:r>
            <a:br/>
            <a:r>
              <a:t>(Entry Point)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Retail</a:t>
            </a:r>
            <a:br/>
            <a:r>
              <a:t>Punching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2286000"/>
            <a:ext cx="1828800" cy="9144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Wholesale</a:t>
            </a:r>
            <a:br/>
            <a:r>
              <a:t>Punching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2286000"/>
            <a:ext cx="1828800" cy="91440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Backoffice</a:t>
            </a:r>
            <a:br/>
            <a:r>
              <a:t>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2286000"/>
            <a:ext cx="1828800" cy="914400"/>
          </a:xfrm>
          <a:prstGeom prst="rect">
            <a:avLst/>
          </a:prstGeom>
          <a:solidFill>
            <a:srgbClr val="00D9A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Reports &amp;</a:t>
            </a:r>
            <a:br/>
            <a:r>
              <a:t>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Supporting Modules: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SQL Adapter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411480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Batch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411480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Power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59" y="411480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Workflow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Validators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66344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Pricing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66344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UI Components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59" y="4663440"/>
            <a:ext cx="192024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WIN08 Folder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onsolas"/>
              </a:defRPr>
            </a:pPr>
            <a:r>
              <a:t>WIN08/</a:t>
            </a:r>
            <a:br/>
            <a:r>
              <a:t>├── app.py (Main Entry Point)</a:t>
            </a:r>
            <a:br/>
            <a:r>
              <a:t>├── config/</a:t>
            </a:r>
            <a:br/>
            <a:r>
              <a:t>│   ├── validation_config.py</a:t>
            </a:r>
            <a:br/>
            <a:r>
              <a:t>│   └── validation_rules.json</a:t>
            </a:r>
            <a:br/>
            <a:r>
              <a:t>└── modules/</a:t>
            </a:r>
            <a:br/>
            <a:r>
              <a:t>    ├── retail_punching.py</a:t>
            </a:r>
            <a:br/>
            <a:r>
              <a:t>    ├── wholesale_punching.py</a:t>
            </a:r>
            <a:br/>
            <a:r>
              <a:t>    ├── backoffice_management.py</a:t>
            </a:r>
            <a:br/>
            <a:r>
              <a:t>    ├── sql_adapter.py</a:t>
            </a:r>
            <a:br/>
            <a:r>
              <a:t>    ├── batch_manager.py</a:t>
            </a:r>
            <a:br/>
            <a:r>
              <a:t>    ├── power_engine.py</a:t>
            </a:r>
            <a:br/>
            <a:r>
              <a:t>    ├── ui_product_selector.py</a:t>
            </a:r>
            <a:br/>
            <a:r>
              <a:t>    ├── ui_order_header.py</a:t>
            </a:r>
            <a:br/>
            <a:r>
              <a:t>    ├── validation_gateway.py ✓ ACTIVE</a:t>
            </a:r>
            <a:br/>
            <a:r>
              <a:t>    ├── reports_and_prints.py</a:t>
            </a:r>
            <a:br/>
            <a:r>
              <a:t>    ├── core/</a:t>
            </a:r>
            <a:br/>
            <a:r>
              <a:t>    │   ├── order_engine.py</a:t>
            </a:r>
            <a:br/>
            <a:r>
              <a:t>    │   └── order_pipeline.py</a:t>
            </a:r>
            <a:br/>
            <a:r>
              <a:t>    ├── db/</a:t>
            </a:r>
            <a:br/>
            <a:r>
              <a:t>    │   └── order_repository.py</a:t>
            </a:r>
            <a:br/>
            <a:r>
              <a:t>    ├── workflow/ ✓ ACTIVE</a:t>
            </a:r>
            <a:br/>
            <a:r>
              <a:t>    │   ├── engine.py</a:t>
            </a:r>
            <a:br/>
            <a:r>
              <a:t>    │   ├── workflow_engine.py</a:t>
            </a:r>
            <a:br/>
            <a:r>
              <a:t>    │   ├── status.py</a:t>
            </a:r>
            <a:br/>
            <a:r>
              <a:t>    │   └── router.py</a:t>
            </a:r>
            <a:br/>
            <a:r>
              <a:t>    ├── validators/ ✓ ACTIVE</a:t>
            </a:r>
            <a:br/>
            <a:r>
              <a:t>    │   ├── engine.py, base.py, registry.py</a:t>
            </a:r>
            <a:br/>
            <a:r>
              <a:t>    │   ├── order_validator.py</a:t>
            </a:r>
            <a:br/>
            <a:r>
              <a:t>    │   ├── party_validator.py</a:t>
            </a:r>
            <a:br/>
            <a:r>
              <a:t>    │   ├── product_validator.py</a:t>
            </a:r>
            <a:br/>
            <a:r>
              <a:t>    │   ├── rx_validator.py</a:t>
            </a:r>
            <a:br/>
            <a:r>
              <a:t>    │   └── financial_validator.py</a:t>
            </a:r>
            <a:br/>
            <a:r>
              <a:t>    ├── pricing/ ⚠️ PARTIAL</a:t>
            </a:r>
            <a:br/>
            <a:r>
              <a:t>    │   ├── pricing_gateway.py (NOT USED)</a:t>
            </a:r>
            <a:br/>
            <a:r>
              <a:t>    │   ├── pricing_engine.py</a:t>
            </a:r>
            <a:br/>
            <a:r>
              <a:t>    │   └── discount/scheme/tax engines</a:t>
            </a:r>
            <a:br/>
            <a:r>
              <a:t>    ├── documents/</a:t>
            </a:r>
            <a:br/>
            <a:r>
              <a:t>    │   ├── jobcard_engine.py</a:t>
            </a:r>
            <a:br/>
            <a:r>
              <a:t>    │   ├── lab_engine.py</a:t>
            </a:r>
            <a:br/>
            <a:r>
              <a:t>    │   └── stock_engine.py</a:t>
            </a:r>
            <a:br/>
            <a:r>
              <a:t>    └── ui/</a:t>
            </a:r>
            <a:br/>
            <a:r>
              <a:t>        ├── formatter.py</a:t>
            </a:r>
            <a:br/>
            <a:r>
              <a:t>        └── validation_display.py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Order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1E2761"/>
                </a:solidFill>
              </a:defRPr>
            </a:pPr>
            <a:r>
              <a:t>Retail &amp; Wholesale Punching → Order Creation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25880"/>
            <a:ext cx="2286000" cy="5486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retail_punching.py</a:t>
            </a:r>
            <a:br/>
            <a:r>
              <a:t>wholesale_punching.py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057400"/>
            <a:ext cx="2286000" cy="5486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Product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5740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ui_product_selector.py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788920"/>
            <a:ext cx="2286000" cy="5486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Cart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78892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Session State (In-Memory)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20440"/>
            <a:ext cx="2286000" cy="5486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Order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2044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order_engine.py</a:t>
            </a:r>
            <a:br/>
            <a:r>
              <a:t>convert_cart_to_order()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251960"/>
            <a:ext cx="2286000" cy="54864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51960"/>
            <a:ext cx="25603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validation_gateway.py</a:t>
            </a:r>
            <a:br/>
            <a:r>
              <a:t>→ validators/engine.py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286000"/>
            <a:ext cx="2103120" cy="22860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Validation Results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✓ Party Validator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✓ Product Validator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✓ RX Validator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✓ Order Validator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✓ Financial Validator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Validation Gateway - ACTIVE ✓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2743200" cy="9144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validation_gateway.py</a:t>
            </a:r>
            <a:br/>
            <a:r>
              <a:t>validate_before_submit()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14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Used By: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3657600" cy="36576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order_pipeline.py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3657600" cy="36576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retail_punching.py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Validators Module Structure: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920240" cy="64008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engine.py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017520"/>
            <a:ext cx="1920240" cy="64008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registry.py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Rule Registry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017520"/>
            <a:ext cx="1920240" cy="640080"/>
          </a:xfrm>
          <a:prstGeom prst="rect">
            <a:avLst/>
          </a:prstGeom>
          <a:solidFill>
            <a:srgbClr val="00D9A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base.py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Base Validator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59" y="3017520"/>
            <a:ext cx="192024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order_validator.py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Order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92024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party_validator.py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Party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3749039"/>
            <a:ext cx="192024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product_validator.py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Product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749039"/>
            <a:ext cx="192024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rx_validator.py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RX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3749039"/>
            <a:ext cx="1920240" cy="6400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financial_validator.py</a:t>
            </a:r>
          </a:p>
          <a:p>
            <a:pPr algn="ctr">
              <a:spcBef>
                <a:spcPts val="400"/>
              </a:spcBef>
              <a:defRPr sz="900" i="1">
                <a:solidFill>
                  <a:srgbClr val="FFFFFF"/>
                </a:solidFill>
              </a:defRPr>
            </a:pPr>
            <a:r>
              <a:t>Credit/Fraud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Database Layer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3200400" cy="109728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sql_adapter.py</a:t>
            </a:r>
            <a:br/>
            <a:r>
              <a:t>Core Database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097280"/>
            <a:ext cx="3200400" cy="109728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order_repository.py</a:t>
            </a:r>
            <a:br/>
            <a:r>
              <a:t>Order-Specific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SQL Adapter Functions: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get_database_info()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read_product_master()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9260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read_product_batch()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read_patients()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search_patients()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2918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get_patient_last_visit()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read_party_master()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576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fetch_last_product_price()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576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C3E50"/>
                </a:solidFill>
                <a:latin typeface="Consolas"/>
              </a:defRPr>
            </a:pPr>
            <a:r>
              <a:t>• get_transaction_connection()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Order Repository Functions: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26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onsolas"/>
              </a:defRPr>
            </a:pPr>
            <a:r>
              <a:t>• save_order()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91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Consolas"/>
              </a:defRPr>
            </a:pPr>
            <a:r>
              <a:t>• Uses: sql_adapter for connection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572000"/>
            <a:ext cx="2743200" cy="731520"/>
          </a:xfrm>
          <a:prstGeom prst="rect">
            <a:avLst/>
          </a:prstGeom>
          <a:solidFill>
            <a:srgbClr val="00D9A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Workflow Engine - ACTIVE 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E2761"/>
                </a:solidFill>
              </a:defRPr>
            </a:pPr>
            <a:r>
              <a:t>Complete Order Line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workflow/engine.py - WorkflowEngine.trigger_complete_workflow()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920240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46304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1E2761"/>
                </a:solidFill>
              </a:defRPr>
            </a:pPr>
            <a:r>
              <a:t>Manufacturing</a:t>
            </a:r>
            <a:br/>
            <a:r>
              <a:t>Power</a:t>
            </a:r>
          </a:p>
          <a:p>
            <a:pPr algn="ctr">
              <a:spcBef>
                <a:spcPts val="1200"/>
              </a:spcBef>
              <a:defRPr sz="800">
                <a:solidFill>
                  <a:srgbClr val="2C3E50"/>
                </a:solidFill>
                <a:latin typeface="Consolas"/>
              </a:defRPr>
            </a:pPr>
            <a:r>
              <a:t>update_manufacturing_power()</a:t>
            </a:r>
          </a:p>
        </p:txBody>
      </p:sp>
      <p:sp>
        <p:nvSpPr>
          <p:cNvPr id="7" name="Oval 6"/>
          <p:cNvSpPr/>
          <p:nvPr/>
        </p:nvSpPr>
        <p:spPr>
          <a:xfrm>
            <a:off x="2834640" y="1920240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286000"/>
            <a:ext cx="146304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1E2761"/>
                </a:solidFill>
              </a:defRPr>
            </a:pPr>
            <a:r>
              <a:t>Stock</a:t>
            </a:r>
            <a:br/>
            <a:r>
              <a:t>Allocation</a:t>
            </a:r>
          </a:p>
          <a:p>
            <a:pPr algn="ctr">
              <a:spcBef>
                <a:spcPts val="1200"/>
              </a:spcBef>
              <a:defRPr sz="800">
                <a:solidFill>
                  <a:srgbClr val="2C3E50"/>
                </a:solidFill>
                <a:latin typeface="Consolas"/>
              </a:defRPr>
            </a:pPr>
            <a:r>
              <a:t>update_batch_allocation()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1920240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286000"/>
            <a:ext cx="146304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1E2761"/>
                </a:solidFill>
              </a:defRPr>
            </a:pPr>
            <a:r>
              <a:t>Billing</a:t>
            </a:r>
            <a:br/>
            <a:r>
              <a:t>Calculation</a:t>
            </a:r>
          </a:p>
          <a:p>
            <a:pPr algn="ctr">
              <a:spcBef>
                <a:spcPts val="1200"/>
              </a:spcBef>
              <a:defRPr sz="800">
                <a:solidFill>
                  <a:srgbClr val="2C3E50"/>
                </a:solidFill>
                <a:latin typeface="Consolas"/>
              </a:defRPr>
            </a:pPr>
            <a:r>
              <a:t>update_line_billing()</a:t>
            </a:r>
          </a:p>
        </p:txBody>
      </p:sp>
      <p:sp>
        <p:nvSpPr>
          <p:cNvPr id="11" name="Oval 10"/>
          <p:cNvSpPr/>
          <p:nvPr/>
        </p:nvSpPr>
        <p:spPr>
          <a:xfrm>
            <a:off x="5943599" y="1920240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2286000"/>
            <a:ext cx="1463040" cy="109728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1E2761"/>
                </a:solidFill>
              </a:defRPr>
            </a:pPr>
            <a:r>
              <a:t>Manufacturing</a:t>
            </a:r>
            <a:br/>
            <a:r>
              <a:t>Routing</a:t>
            </a:r>
          </a:p>
          <a:p>
            <a:pPr algn="ctr">
              <a:spcBef>
                <a:spcPts val="1200"/>
              </a:spcBef>
              <a:defRPr sz="800">
                <a:solidFill>
                  <a:srgbClr val="2C3E50"/>
                </a:solidFill>
                <a:latin typeface="Consolas"/>
              </a:defRPr>
            </a:pPr>
            <a:r>
              <a:t>route_manufacturing()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920240"/>
            <a:ext cx="365760" cy="365760"/>
          </a:xfrm>
          <a:prstGeom prst="ellipse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286000"/>
            <a:ext cx="1463040" cy="109728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1E2761"/>
                </a:solidFill>
              </a:defRPr>
            </a:pPr>
            <a:r>
              <a:t>Status</a:t>
            </a:r>
            <a:br/>
            <a:r>
              <a:t>Assignment</a:t>
            </a:r>
          </a:p>
          <a:p>
            <a:pPr algn="ctr">
              <a:spcBef>
                <a:spcPts val="1200"/>
              </a:spcBef>
              <a:defRPr sz="800">
                <a:solidFill>
                  <a:srgbClr val="2C3E50"/>
                </a:solidFill>
                <a:latin typeface="Consolas"/>
              </a:defRPr>
            </a:pPr>
            <a:r>
              <a:t>assign_initial_status()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Manufacturing Routes: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1920240" cy="73152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INTERNAL_LAB</a:t>
            </a:r>
          </a:p>
          <a:p>
            <a:pPr algn="ctr">
              <a:spcBef>
                <a:spcPts val="600"/>
              </a:spcBef>
              <a:defRPr sz="900" i="1">
                <a:solidFill>
                  <a:srgbClr val="FFFFFF"/>
                </a:solidFill>
              </a:defRPr>
            </a:pPr>
            <a:r>
              <a:t>In-house 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297680"/>
            <a:ext cx="1920240" cy="73152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EXTERNAL_LAB</a:t>
            </a:r>
          </a:p>
          <a:p>
            <a:pPr algn="ctr">
              <a:spcBef>
                <a:spcPts val="600"/>
              </a:spcBef>
              <a:defRPr sz="900" i="1">
                <a:solidFill>
                  <a:srgbClr val="FFFFFF"/>
                </a:solidFill>
              </a:defRPr>
            </a:pPr>
            <a:r>
              <a:t>Send to partner lab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297680"/>
            <a:ext cx="1920240" cy="73152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VENDOR</a:t>
            </a:r>
          </a:p>
          <a:p>
            <a:pPr algn="ctr">
              <a:spcBef>
                <a:spcPts val="600"/>
              </a:spcBef>
              <a:defRPr sz="900" i="1">
                <a:solidFill>
                  <a:srgbClr val="FFFFFF"/>
                </a:solidFill>
              </a:defRPr>
            </a:pPr>
            <a:r>
              <a:t>Order from supplier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59" y="4297680"/>
            <a:ext cx="1920240" cy="731520"/>
          </a:xfrm>
          <a:prstGeom prst="rect">
            <a:avLst/>
          </a:prstGeom>
          <a:solidFill>
            <a:srgbClr val="00D9A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STOCK_VENDOR</a:t>
            </a:r>
          </a:p>
          <a:p>
            <a:pPr algn="ctr">
              <a:spcBef>
                <a:spcPts val="600"/>
              </a:spcBef>
              <a:defRPr sz="900" i="1">
                <a:solidFill>
                  <a:srgbClr val="FFFFFF"/>
                </a:solidFill>
              </a:defRPr>
            </a:pPr>
            <a:r>
              <a:t>Ready stock items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Backoffice Management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E2761"/>
                </a:solidFill>
              </a:defRPr>
            </a:pPr>
            <a:r>
              <a:t>Central control for order processing, pricing, and production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371600"/>
            <a:ext cx="4572000" cy="82296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backoffice_management.py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Key Responsibilities: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2926080"/>
            <a:ext cx="365760" cy="36576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R/L Processing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Right/Left eye workflow management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2926080"/>
            <a:ext cx="365760" cy="36576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Power Calculation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Vertex correction &amp; effectivity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Batch Allocation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FIFO stock allocation logic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3657600"/>
            <a:ext cx="365760" cy="36576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Pricing &amp; Billing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Dynamic pricing with discounts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389120"/>
            <a:ext cx="365760" cy="36576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Job Cards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Manufacturing documentation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4389120"/>
            <a:ext cx="365760" cy="36576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Workflow Trigger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Initiates complete order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Module Dependencies: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1554480" cy="36576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batch_manager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5577840"/>
            <a:ext cx="1554480" cy="36576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power_engine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5577840"/>
            <a:ext cx="1554480" cy="36576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sql_adapter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5577840"/>
            <a:ext cx="1554480" cy="36576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workflow/engine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5577840"/>
            <a:ext cx="1554480" cy="36576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workflow/status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Module Usage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097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972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Used By /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validation_gateway.py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554480"/>
            <a:ext cx="1371600" cy="4572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✅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order_pipeline, retail_punching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validators/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057400"/>
            <a:ext cx="1371600" cy="4572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✅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574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Via validation_gateway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workflow/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560320"/>
            <a:ext cx="1371600" cy="4572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✅ ACTIVE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6032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backoffice_management, order_pipeline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pricing_gateway.py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3063240"/>
            <a:ext cx="1371600" cy="45720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❌ NOT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06324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No callers found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pricing/*.py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566160"/>
            <a:ext cx="1371600" cy="45720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⚠️ 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56616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Individual engines exist, integration unclear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documents/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069080"/>
            <a:ext cx="1371600" cy="457200"/>
          </a:xfrm>
          <a:prstGeom prst="rect">
            <a:avLst/>
          </a:prstGeom>
          <a:solidFill>
            <a:srgbClr val="00D9A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✅ EXISTS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6908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Document generation engines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286000" cy="457200"/>
          </a:xfrm>
          <a:prstGeom prst="rect">
            <a:avLst/>
          </a:prstGeom>
          <a:solidFill>
            <a:srgbClr val="ECF0F1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0">
                <a:solidFill>
                  <a:srgbClr val="2C3E50"/>
                </a:solidFill>
              </a:defRPr>
            </a:pPr>
            <a:r>
              <a:t>ui/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4572000"/>
            <a:ext cx="1371600" cy="4572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✅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5720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2C3E50"/>
                </a:solidFill>
              </a:defRPr>
            </a:pPr>
            <a:r>
              <a:t>UI helper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761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27AE60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✅ ACTIVE &amp; WORKING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validation_gateway.py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validators/ (all files)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workflow/ (engine.py, status.py)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backoffice_management.py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batch_manager.py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power_engine.py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sql_adapter.py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order_repository.py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UI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⚠️ ISSUES FOUND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pricing_gateway.py: NOT USED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  → No callers in codebase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pricing/*.py: PARTIAL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  → Individual engines exist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  → Integration unclear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  → Logic in backoffice instead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Recommendation: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  1. Integrate pricing_gateway, OR</a:t>
            </a:r>
          </a:p>
          <a:p>
            <a:pPr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  2. Remove unused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Action Items: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097280" cy="457200"/>
          </a:xfrm>
          <a:prstGeom prst="rect">
            <a:avLst/>
          </a:prstGeom>
          <a:solidFill>
            <a:srgbClr val="E74C3C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114800"/>
            <a:ext cx="70408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Decide on pricing module: integrate or remove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1097280" cy="457200"/>
          </a:xfrm>
          <a:prstGeom prst="rect">
            <a:avLst/>
          </a:prstGeom>
          <a:solidFill>
            <a:srgbClr val="F39C12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846320"/>
            <a:ext cx="70408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Document pricing logic location (currently in backoffice)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77840"/>
            <a:ext cx="1097280" cy="457200"/>
          </a:xfrm>
          <a:prstGeom prst="rect">
            <a:avLst/>
          </a:prstGeom>
          <a:solidFill>
            <a:srgbClr val="00D9A3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45720" rIns="4572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70408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Consider consolidating document engines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WIN08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Analysis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✓ Core workflow engines: ACTIVE and functional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✓ Validation system: Properly integrated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⚠️ Pricing module: Needs integration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✓ Well-structured modular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